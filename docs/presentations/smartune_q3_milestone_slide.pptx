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4389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269BF"/>
                </a:solidFill>
              </a:rPr>
              <a:t>INTEL® EES PLATFORM / SMARTUNE 1.5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0" y="109728"/>
            <a:ext cx="1737360" cy="347472"/>
          </a:xfrm>
          <a:prstGeom prst="roundRect">
            <a:avLst/>
          </a:prstGeom>
          <a:solidFill>
            <a:srgbClr val="162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EXECUTIVE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2543"/>
                </a:solidFill>
              </a:rPr>
              <a:t>SmarTune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269BF"/>
                </a:solidFill>
              </a:rPr>
              <a:t>BUSINESS VALUE MILESTONE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62763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A7891"/>
                </a:solidFill>
              </a:rPr>
              <a:t>READY FOR PILOT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713232"/>
            <a:ext cx="4069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914400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269BF"/>
                </a:solidFill>
              </a:rPr>
              <a:t>EXECUTIVE SUMMARY</a:t>
            </a:r>
          </a:p>
        </p:txBody>
      </p:sp>
      <p:sp>
        <p:nvSpPr>
          <p:cNvPr id="10" name="Oval 9"/>
          <p:cNvSpPr/>
          <p:nvPr/>
        </p:nvSpPr>
        <p:spPr>
          <a:xfrm>
            <a:off x="7936992" y="1234440"/>
            <a:ext cx="91440" cy="91440"/>
          </a:xfrm>
          <a:prstGeom prst="ellipse">
            <a:avLst/>
          </a:prstGeom>
          <a:solidFill>
            <a:srgbClr val="126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1887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25F78"/>
                </a:solidFill>
              </a:rPr>
              <a:t>SmartTune centralizes telemetry, policy control, and workload governance.</a:t>
            </a:r>
          </a:p>
        </p:txBody>
      </p:sp>
      <p:sp>
        <p:nvSpPr>
          <p:cNvPr id="12" name="Oval 11"/>
          <p:cNvSpPr/>
          <p:nvPr/>
        </p:nvSpPr>
        <p:spPr>
          <a:xfrm>
            <a:off x="7936992" y="1618488"/>
            <a:ext cx="91440" cy="91440"/>
          </a:xfrm>
          <a:prstGeom prst="ellipse">
            <a:avLst/>
          </a:prstGeom>
          <a:solidFill>
            <a:srgbClr val="1EB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1572768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25F78"/>
                </a:solidFill>
              </a:rPr>
              <a:t>It reduces tuning effort and protects critical AI / graphics workloads under pressure.</a:t>
            </a:r>
          </a:p>
        </p:txBody>
      </p:sp>
      <p:sp>
        <p:nvSpPr>
          <p:cNvPr id="14" name="Oval 13"/>
          <p:cNvSpPr/>
          <p:nvPr/>
        </p:nvSpPr>
        <p:spPr>
          <a:xfrm>
            <a:off x="7936992" y="2002536"/>
            <a:ext cx="91440" cy="91440"/>
          </a:xfrm>
          <a:prstGeom prst="ellipse">
            <a:avLst/>
          </a:prstGeom>
          <a:solidFill>
            <a:srgbClr val="F2A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956816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25F78"/>
                </a:solidFill>
              </a:rPr>
              <a:t>It provides a repeatable optimization foundation for Intel® XPU platform adoption.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40280"/>
            <a:ext cx="82296" cy="1417320"/>
          </a:xfrm>
          <a:prstGeom prst="rect">
            <a:avLst/>
          </a:prstGeom>
          <a:solidFill>
            <a:srgbClr val="F2A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2240280"/>
            <a:ext cx="6675120" cy="1417320"/>
          </a:xfrm>
          <a:prstGeom prst="roundRect">
            <a:avLst/>
          </a:prstGeom>
          <a:solidFill>
            <a:srgbClr val="162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450592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EB074"/>
                </a:solidFill>
              </a:rPr>
              <a:t>BUSINESS IMPACT / CORE PLATFORM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743200"/>
            <a:ext cx="61264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SmartTune is the optimization control layer for Intel® XPU systems — </a:t>
            </a:r>
            <a:r>
              <a:rPr sz="1800">
                <a:solidFill>
                  <a:srgbClr val="FFFFFF"/>
                </a:solidFill>
              </a:rPr>
              <a:t>turning system telemetry into resource-balancing actions that improve workload stability, reduce manual tuning, and accelerate production readiness.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310128"/>
            <a:ext cx="6126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CDD6E5"/>
                </a:solidFill>
              </a:rPr>
              <a:t>Middle-section emphasis: what SmartTune is, and why it matters to business outcomes.</a:t>
            </a:r>
          </a:p>
        </p:txBody>
      </p:sp>
      <p:sp>
        <p:nvSpPr>
          <p:cNvPr id="21" name="Oval 20"/>
          <p:cNvSpPr/>
          <p:nvPr/>
        </p:nvSpPr>
        <p:spPr>
          <a:xfrm>
            <a:off x="7406640" y="2011680"/>
            <a:ext cx="4480560" cy="2057400"/>
          </a:xfrm>
          <a:prstGeom prst="ellipse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chitect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31720"/>
            <a:ext cx="3474720" cy="14466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0" y="4041648"/>
            <a:ext cx="3017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>
                <a:solidFill>
                  <a:srgbClr val="162543"/>
                </a:solidFill>
              </a:rPr>
              <a:t>SMARTUNE PLATFORM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261104"/>
            <a:ext cx="3657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6A7891"/>
                </a:solidFill>
              </a:rPr>
              <a:t>Unified telemetry, control, and governance across heterogeneous Intel® XPU workloads.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498848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A7891"/>
                </a:solidFill>
              </a:rPr>
              <a:t>EXECUTIVE VALUE HIGHLIGHTS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36592"/>
            <a:ext cx="25603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736592"/>
            <a:ext cx="73152" cy="1234440"/>
          </a:xfrm>
          <a:prstGeom prst="rect">
            <a:avLst/>
          </a:prstGeom>
          <a:solidFill>
            <a:srgbClr val="126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4901184"/>
            <a:ext cx="530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269BF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84632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62543"/>
                </a:solidFill>
              </a:rPr>
              <a:t>Operational visibility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193792"/>
            <a:ext cx="1600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25F78"/>
                </a:solidFill>
              </a:rPr>
              <a:t>Tracks CPU, memory, disk, GPU, and NPU pressure in one optimization workflow.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3280" y="4736592"/>
            <a:ext cx="25603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4736592"/>
            <a:ext cx="73152" cy="1234440"/>
          </a:xfrm>
          <a:prstGeom prst="rect">
            <a:avLst/>
          </a:prstGeom>
          <a:solidFill>
            <a:srgbClr val="1EB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4901184"/>
            <a:ext cx="530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B074"/>
                </a:solidFill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84632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62543"/>
                </a:solidFill>
              </a:rPr>
              <a:t>Automated 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5193792"/>
            <a:ext cx="1600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25F78"/>
                </a:solidFill>
              </a:rPr>
              <a:t>Balances resources with cgroup-based limits, launch management, and protection policies.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736592"/>
            <a:ext cx="25603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4736592"/>
            <a:ext cx="73152" cy="1234440"/>
          </a:xfrm>
          <a:prstGeom prst="rect">
            <a:avLst/>
          </a:prstGeom>
          <a:solidFill>
            <a:srgbClr val="F2A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1" y="4901184"/>
            <a:ext cx="530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2A42A"/>
                </a:solidFill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484632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62543"/>
                </a:solidFill>
              </a:rPr>
              <a:t>Faster enablement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59" y="5193792"/>
            <a:ext cx="1600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25F78"/>
                </a:solidFill>
              </a:rPr>
              <a:t>Shortens platform tuning cycles and supports more predictable pilot deployment outcomes.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4736592"/>
            <a:ext cx="25603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44000" y="4736592"/>
            <a:ext cx="73152" cy="1234440"/>
          </a:xfrm>
          <a:prstGeom prst="rect">
            <a:avLst/>
          </a:prstGeom>
          <a:solidFill>
            <a:srgbClr val="126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08592" y="4901184"/>
            <a:ext cx="530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269BF"/>
                </a:solidFill>
              </a:rPr>
              <a:t>1.5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84632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62543"/>
                </a:solidFill>
              </a:rPr>
              <a:t>Pilot momentum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5193792"/>
            <a:ext cx="1600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25F78"/>
                </a:solidFill>
              </a:rPr>
              <a:t>Current pilot-customer placeholders are ready to be replaced with real account names.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6199632"/>
            <a:ext cx="11201400" cy="9144"/>
          </a:xfrm>
          <a:prstGeom prst="rect">
            <a:avLst/>
          </a:prstGeom>
          <a:solidFill>
            <a:srgbClr val="DB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309360"/>
            <a:ext cx="3200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A7891"/>
                </a:solidFill>
              </a:rPr>
              <a:t>CUSTOMERS IN PILOT / EARLY ADOPTION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6492240"/>
            <a:ext cx="1965960" cy="256032"/>
          </a:xfrm>
          <a:prstGeom prst="roundRect">
            <a:avLst/>
          </a:prstGeom>
          <a:solidFill>
            <a:srgbClr val="162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FFFFFF"/>
                </a:solidFill>
              </a:rPr>
              <a:t>AsterAI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0" y="6492240"/>
            <a:ext cx="1965960" cy="256032"/>
          </a:xfrm>
          <a:prstGeom prst="roundRect">
            <a:avLst/>
          </a:prstGeom>
          <a:solidFill>
            <a:srgbClr val="126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FFFFFF"/>
                </a:solidFill>
              </a:rPr>
              <a:t>NovaEdge Systems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6492240"/>
            <a:ext cx="1965960" cy="256032"/>
          </a:xfrm>
          <a:prstGeom prst="roundRect">
            <a:avLst/>
          </a:prstGeom>
          <a:solidFill>
            <a:srgbClr val="1EB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FFFFFF"/>
                </a:solidFill>
              </a:rPr>
              <a:t>BlueMesa Robotics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23760" y="6492240"/>
            <a:ext cx="1965960" cy="256032"/>
          </a:xfrm>
          <a:prstGeom prst="roundRect">
            <a:avLst/>
          </a:prstGeom>
          <a:solidFill>
            <a:srgbClr val="F2A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FFFFFF"/>
                </a:solidFill>
              </a:rPr>
              <a:t>VertexVision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492240"/>
            <a:ext cx="1965960" cy="256032"/>
          </a:xfrm>
          <a:prstGeom prst="roundRect">
            <a:avLst/>
          </a:prstGeom>
          <a:solidFill>
            <a:srgbClr val="1625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80" b="1">
                <a:solidFill>
                  <a:srgbClr val="FFFFFF"/>
                </a:solidFill>
              </a:rPr>
              <a:t>Orion Compute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