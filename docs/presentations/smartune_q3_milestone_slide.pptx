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2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4114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49DEA"/>
                </a:solidFill>
              </a:rPr>
              <a:t>INTEL® EES PLATFORM  /  SMARTUNE 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SmartTune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411480"/>
            <a:ext cx="6583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549DEA"/>
                </a:solidFill>
              </a:rPr>
              <a:t>AI WORKLOAD OPTIMIZATION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96112"/>
            <a:ext cx="7863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D0D8E7"/>
                </a:solidFill>
              </a:rPr>
              <a:t>A new layout focused on how SmartTune observes, optimizes, and protects Intel® XPU workloads in pilot deployments.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04120" y="228600"/>
            <a:ext cx="1691640" cy="384048"/>
          </a:xfrm>
          <a:prstGeom prst="roundRect">
            <a:avLst/>
          </a:prstGeom>
          <a:solidFill>
            <a:srgbClr val="11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Q3'26  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731520"/>
            <a:ext cx="1965960" cy="384048"/>
          </a:xfrm>
          <a:prstGeom prst="roundRect">
            <a:avLst/>
          </a:prstGeom>
          <a:solidFill>
            <a:srgbClr val="223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Editable customer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572768"/>
            <a:ext cx="6858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5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92224"/>
            <a:ext cx="3474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68BE"/>
                </a:solidFill>
              </a:rPr>
              <a:t>WHAT THE MIDDLE SECTION SHOWS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93392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21F3A"/>
                </a:solidFill>
              </a:rPr>
              <a:t>A hub-and-spoke workflow that explains SmartTune’s role in the platform.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4C5C76"/>
                </a:solidFill>
              </a:rPr>
              <a:t>It highlights the core optimization loop: sense system pressure, balance resources automatically, and protect critical applications so teams can reach production readiness faster.</a:t>
            </a:r>
          </a:p>
        </p:txBody>
      </p:sp>
      <p:sp>
        <p:nvSpPr>
          <p:cNvPr id="14" name="Oval 13"/>
          <p:cNvSpPr/>
          <p:nvPr/>
        </p:nvSpPr>
        <p:spPr>
          <a:xfrm>
            <a:off x="2514600" y="3063240"/>
            <a:ext cx="2194560" cy="1325880"/>
          </a:xfrm>
          <a:prstGeom prst="ellipse">
            <a:avLst/>
          </a:prstGeom>
          <a:solidFill>
            <a:srgbClr val="12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341071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SMARTUNE
OPTIMIZATION 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2148840" cy="914400"/>
          </a:xfrm>
          <a:prstGeom prst="round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2688" y="3291840"/>
            <a:ext cx="822960" cy="201168"/>
          </a:xfrm>
          <a:prstGeom prst="roundRect">
            <a:avLst/>
          </a:prstGeom>
          <a:solidFill>
            <a:srgbClr val="11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01  OBSERVE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356616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21F3A"/>
                </a:solidFill>
              </a:rPr>
              <a:t>Collects CPU, memory, disk, GPU, and NPU telemetry to detect bottlenecks in real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0" y="2743200"/>
            <a:ext cx="2148840" cy="914400"/>
          </a:xfrm>
          <a:prstGeom prst="round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10328" y="2834640"/>
            <a:ext cx="822960" cy="201168"/>
          </a:xfrm>
          <a:prstGeom prst="roundRect">
            <a:avLst/>
          </a:prstGeom>
          <a:solidFill>
            <a:srgbClr val="1FB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02  OPTIMIZE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310896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21F3A"/>
                </a:solidFill>
              </a:rPr>
              <a:t>Applies policy-based balancing, launch queuing, and cgroup controls to keep workloads efficient.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65960" y="4663440"/>
            <a:ext cx="2148840" cy="914400"/>
          </a:xfrm>
          <a:prstGeom prst="round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75688" y="4754879"/>
            <a:ext cx="822960" cy="201168"/>
          </a:xfrm>
          <a:prstGeom prst="roundRect">
            <a:avLst/>
          </a:prstGeom>
          <a:solidFill>
            <a:srgbClr val="F7A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03  PROTECT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976" y="50292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21F3A"/>
                </a:solidFill>
              </a:rPr>
              <a:t>Preserves responsiveness for critical applications with keep-alive and priority-aware recovery.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14600" y="3703320"/>
            <a:ext cx="411480" cy="0"/>
          </a:xfrm>
          <a:prstGeom prst="line">
            <a:avLst/>
          </a:prstGeom>
          <a:ln w="28575">
            <a:solidFill>
              <a:srgbClr val="1168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709160" y="3429000"/>
            <a:ext cx="91440" cy="228600"/>
          </a:xfrm>
          <a:prstGeom prst="line">
            <a:avLst/>
          </a:prstGeom>
          <a:ln w="28575">
            <a:solidFill>
              <a:srgbClr val="1FB1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91840" y="4389120"/>
            <a:ext cx="320040" cy="274320"/>
          </a:xfrm>
          <a:prstGeom prst="line">
            <a:avLst/>
          </a:prstGeom>
          <a:ln w="28575">
            <a:solidFill>
              <a:srgbClr val="F7A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1572768"/>
            <a:ext cx="4462272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5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5240" y="179222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68BE"/>
                </a:solidFill>
              </a:rPr>
              <a:t>PLATFORM SNAPSHOT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029968"/>
            <a:ext cx="3977639" cy="1645920"/>
          </a:xfrm>
          <a:prstGeom prst="round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rchitect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212848"/>
            <a:ext cx="3611880" cy="150373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699248" y="3822191"/>
            <a:ext cx="36576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21F3A"/>
                </a:solidFill>
              </a:rPr>
              <a:t>WHY IT MATTERS</a:t>
            </a:r>
          </a:p>
        </p:txBody>
      </p:sp>
      <p:sp>
        <p:nvSpPr>
          <p:cNvPr id="33" name="Oval 32"/>
          <p:cNvSpPr/>
          <p:nvPr/>
        </p:nvSpPr>
        <p:spPr>
          <a:xfrm>
            <a:off x="7726679" y="4169663"/>
            <a:ext cx="109728" cy="109728"/>
          </a:xfrm>
          <a:prstGeom prst="ellipse">
            <a:avLst/>
          </a:prstGeom>
          <a:solidFill>
            <a:srgbClr val="11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4133087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C5C76"/>
                </a:solidFill>
              </a:rPr>
              <a:t>Reduces manual tuning effort across heterogeneous Intel® XPU workloads.</a:t>
            </a:r>
          </a:p>
        </p:txBody>
      </p:sp>
      <p:sp>
        <p:nvSpPr>
          <p:cNvPr id="35" name="Oval 34"/>
          <p:cNvSpPr/>
          <p:nvPr/>
        </p:nvSpPr>
        <p:spPr>
          <a:xfrm>
            <a:off x="7726679" y="4608576"/>
            <a:ext cx="109728" cy="109728"/>
          </a:xfrm>
          <a:prstGeom prst="ellipse">
            <a:avLst/>
          </a:prstGeom>
          <a:solidFill>
            <a:srgbClr val="1FB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4572000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C5C76"/>
                </a:solidFill>
              </a:rPr>
              <a:t>Improves workload stability during pressure spikes and resource contention.</a:t>
            </a:r>
          </a:p>
        </p:txBody>
      </p:sp>
      <p:sp>
        <p:nvSpPr>
          <p:cNvPr id="37" name="Oval 36"/>
          <p:cNvSpPr/>
          <p:nvPr/>
        </p:nvSpPr>
        <p:spPr>
          <a:xfrm>
            <a:off x="7726679" y="5047488"/>
            <a:ext cx="109728" cy="109728"/>
          </a:xfrm>
          <a:prstGeom prst="ellipse">
            <a:avLst/>
          </a:prstGeom>
          <a:solidFill>
            <a:srgbClr val="F7A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5010912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C5C76"/>
                </a:solidFill>
              </a:rPr>
              <a:t>Provides a repeatable path from telemetry insight to production deployment.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635240" y="5413248"/>
            <a:ext cx="3977639" cy="420624"/>
          </a:xfrm>
          <a:prstGeom prst="roundRect">
            <a:avLst/>
          </a:prstGeom>
          <a:solidFill>
            <a:srgbClr val="12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SmartTune 1.5 = telemetry + policy control + workload governance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7472" y="6199632"/>
            <a:ext cx="11503152" cy="438912"/>
          </a:xfrm>
          <a:prstGeom prst="roundRect">
            <a:avLst/>
          </a:prstGeom>
          <a:solidFill>
            <a:srgbClr val="12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327648"/>
            <a:ext cx="2011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</a:rPr>
              <a:t>PILOT CUSTOMERS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57400" y="6272784"/>
            <a:ext cx="1554480" cy="256032"/>
          </a:xfrm>
          <a:prstGeom prst="roundRect">
            <a:avLst/>
          </a:prstGeom>
          <a:solidFill>
            <a:srgbClr val="11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AsterAI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80" y="6272784"/>
            <a:ext cx="1554480" cy="256032"/>
          </a:xfrm>
          <a:prstGeom prst="roundRect">
            <a:avLst/>
          </a:prstGeom>
          <a:solidFill>
            <a:srgbClr val="1FB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NovaEdge Systems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23560" y="6272784"/>
            <a:ext cx="1554480" cy="256032"/>
          </a:xfrm>
          <a:prstGeom prst="roundRect">
            <a:avLst/>
          </a:prstGeom>
          <a:solidFill>
            <a:srgbClr val="F7A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BlueMesa Robotics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06640" y="6272784"/>
            <a:ext cx="1554480" cy="256032"/>
          </a:xfrm>
          <a:prstGeom prst="roundRect">
            <a:avLst/>
          </a:prstGeom>
          <a:solidFill>
            <a:srgbClr val="549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VertexVision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20" y="6272784"/>
            <a:ext cx="1554480" cy="256032"/>
          </a:xfrm>
          <a:prstGeom prst="roundRect">
            <a:avLst/>
          </a:prstGeom>
          <a:solidFill>
            <a:srgbClr val="1FB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Orion Compute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327648"/>
            <a:ext cx="13258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D1DAE8"/>
                </a:solidFill>
              </a:rPr>
              <a:t>editable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