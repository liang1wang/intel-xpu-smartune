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3840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6BC1"/>
                </a:solidFill>
              </a:rPr>
              <a:t>INTEL® EES PLATFORM / SMARTUNE 1.5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09728"/>
            <a:ext cx="1828800" cy="347472"/>
          </a:xfrm>
          <a:prstGeom prst="roundRect">
            <a:avLst/>
          </a:prstGeom>
          <a:solidFill>
            <a:srgbClr val="19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Q3'26  • 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747"/>
                </a:solidFill>
              </a:rPr>
              <a:t>SmarTune 1.5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813816"/>
            <a:ext cx="987552" cy="36576"/>
          </a:xfrm>
          <a:prstGeom prst="rect">
            <a:avLst/>
          </a:prstGeom>
          <a:solidFill>
            <a:srgbClr val="19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46BC1"/>
                </a:solidFill>
              </a:rPr>
              <a:t>QUARTERLY BUSINESS</a:t>
            </a:r>
          </a:p>
          <a:p>
            <a:pPr>
              <a:spcBef>
                <a:spcPts val="0"/>
              </a:spcBef>
            </a:pPr>
            <a:r>
              <a:rPr sz="3100" b="1">
                <a:solidFill>
                  <a:srgbClr val="146BC1"/>
                </a:solidFill>
              </a:rP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1708C"/>
                </a:solidFill>
              </a:rPr>
              <a:t>ACHIEVED IN Q3 2026</a:t>
            </a:r>
          </a:p>
        </p:txBody>
      </p:sp>
      <p:sp>
        <p:nvSpPr>
          <p:cNvPr id="9" name="Oval 8"/>
          <p:cNvSpPr/>
          <p:nvPr/>
        </p:nvSpPr>
        <p:spPr>
          <a:xfrm>
            <a:off x="7543800" y="566928"/>
            <a:ext cx="3913632" cy="3063240"/>
          </a:xfrm>
          <a:prstGeom prst="ellipse">
            <a:avLst/>
          </a:prstGeom>
          <a:solidFill>
            <a:srgbClr val="E4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ite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0"/>
            <a:ext cx="2999232" cy="12486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02752" y="335584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92747"/>
                </a:solidFill>
              </a:rPr>
              <a:t>SMARTUNE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11880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">
                <a:solidFill>
                  <a:srgbClr val="61708C"/>
                </a:solidFill>
              </a:rPr>
              <a:t>Optimization intelligence for Intel® XPU platforms.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22576"/>
            <a:ext cx="82296" cy="1335024"/>
          </a:xfrm>
          <a:prstGeom prst="rect">
            <a:avLst/>
          </a:prstGeom>
          <a:solidFill>
            <a:srgbClr val="F5A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322576"/>
            <a:ext cx="6931152" cy="1335024"/>
          </a:xfrm>
          <a:prstGeom prst="roundRect">
            <a:avLst/>
          </a:prstGeom>
          <a:solidFill>
            <a:srgbClr val="19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52374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074"/>
                </a:solidFill>
              </a:rPr>
              <a:t>BUSINESS IMPACT  /  CORE OPTIMIZATION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8346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SmartTune is the central control layer for Intel® XPU workload optimization — </a:t>
            </a:r>
            <a:r>
              <a:rPr sz="1800">
                <a:solidFill>
                  <a:srgbClr val="FFFFFF"/>
                </a:solidFill>
              </a:rPr>
              <a:t>converting system telemetry into balancing actions that improve stability, reduce manual tuning effort, and accelerate pilot deployment readiness.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36499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30">
                <a:solidFill>
                  <a:srgbClr val="CED6E5"/>
                </a:solidFill>
              </a:rPr>
              <a:t>SmartTune orchestrates platform telemetry, resource policies, and workload controls to keep Intel® XPU systems balanced, stable, and deployment-ready.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9476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1708C"/>
                </a:solidFill>
              </a:rPr>
              <a:t>EXECUTIVE VALUE SNAPSHOT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995928"/>
            <a:ext cx="2953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995928"/>
            <a:ext cx="73152" cy="1243584"/>
          </a:xfrm>
          <a:prstGeom prst="rect">
            <a:avLst/>
          </a:prstGeom>
          <a:solidFill>
            <a:srgbClr val="14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187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6BC1"/>
                </a:solidFill>
              </a:rPr>
              <a:t>360°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1" y="41422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92747"/>
                </a:solidFill>
              </a:rPr>
              <a:t>PLATFORM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1" y="4498848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54607A"/>
                </a:solidFill>
              </a:rPr>
              <a:t>Unified monitoring across CPU, memory, disk, GPU, and NPU telemetry.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3995928"/>
            <a:ext cx="2953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01568" y="3995928"/>
            <a:ext cx="73152" cy="1243584"/>
          </a:xfrm>
          <a:prstGeom prst="rect">
            <a:avLst/>
          </a:prstGeom>
          <a:solidFill>
            <a:srgbClr val="1F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4187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B074"/>
                </a:solidFill>
              </a:rPr>
              <a:t>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422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92747"/>
                </a:solidFill>
              </a:rPr>
              <a:t>RESOURCE BALANCING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98848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54607A"/>
                </a:solidFill>
              </a:rPr>
              <a:t>Policy-based control with cgroups, queuing, and workload protection.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83096" y="3995928"/>
            <a:ext cx="2953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3096" y="3995928"/>
            <a:ext cx="73152" cy="1243584"/>
          </a:xfrm>
          <a:prstGeom prst="rect">
            <a:avLst/>
          </a:prstGeom>
          <a:solidFill>
            <a:srgbClr val="F5A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4264" y="4187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A82A"/>
                </a:solidFill>
              </a:rPr>
              <a:t>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1422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92747"/>
                </a:solidFill>
              </a:rPr>
              <a:t>DEPLOYMENT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4498848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54607A"/>
                </a:solidFill>
              </a:rPr>
              <a:t>Shorter tuning cycles and more repeatable pilot rollout decisions.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4624" y="3995928"/>
            <a:ext cx="2258568" cy="1243584"/>
          </a:xfrm>
          <a:prstGeom prst="roundRect">
            <a:avLst/>
          </a:prstGeom>
          <a:solidFill>
            <a:srgbClr val="14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18795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FFFF"/>
                </a:solidFill>
              </a:rPr>
              <a:t>PILOT MILESTONE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44348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4936" y="48463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>
                <a:solidFill>
                  <a:srgbClr val="FFFFFF"/>
                </a:solidFill>
              </a:rPr>
              <a:t>Production-focused foundation for SmartTune adoption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513832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61708C"/>
                </a:solidFill>
              </a:rPr>
              <a:t>RELEASE HIGHLIGHTS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51576"/>
            <a:ext cx="11457432" cy="9144"/>
          </a:xfrm>
          <a:prstGeom prst="rect">
            <a:avLst/>
          </a:prstGeom>
          <a:solidFill>
            <a:srgbClr val="D6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7200" y="5925312"/>
            <a:ext cx="292608" cy="292608"/>
          </a:xfrm>
          <a:prstGeom prst="ellipse">
            <a:avLst/>
          </a:prstGeom>
          <a:solidFill>
            <a:srgbClr val="146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97880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92747"/>
                </a:solidFill>
              </a:rPr>
              <a:t>PLATFORM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6163056"/>
            <a:ext cx="2697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>
                <a:solidFill>
                  <a:srgbClr val="54607A"/>
                </a:solidFill>
              </a:rPr>
              <a:t>Integrated telemetry and balancing workflow aligned for pilot deployment.</a:t>
            </a:r>
          </a:p>
        </p:txBody>
      </p:sp>
      <p:sp>
        <p:nvSpPr>
          <p:cNvPr id="43" name="Oval 42"/>
          <p:cNvSpPr/>
          <p:nvPr/>
        </p:nvSpPr>
        <p:spPr>
          <a:xfrm>
            <a:off x="4343400" y="5925312"/>
            <a:ext cx="292608" cy="292608"/>
          </a:xfrm>
          <a:prstGeom prst="ellipse">
            <a:avLst/>
          </a:prstGeom>
          <a:solidFill>
            <a:srgbClr val="1FB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897880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92747"/>
                </a:solidFill>
              </a:rPr>
              <a:t>STABLE + ACTIONABLE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6163056"/>
            <a:ext cx="2697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>
                <a:solidFill>
                  <a:srgbClr val="54607A"/>
                </a:solidFill>
              </a:rPr>
              <a:t>Resource governance and workload visibility packaged for real operational use.</a:t>
            </a:r>
          </a:p>
        </p:txBody>
      </p:sp>
      <p:sp>
        <p:nvSpPr>
          <p:cNvPr id="46" name="Oval 45"/>
          <p:cNvSpPr/>
          <p:nvPr/>
        </p:nvSpPr>
        <p:spPr>
          <a:xfrm>
            <a:off x="8183879" y="5925312"/>
            <a:ext cx="292608" cy="292608"/>
          </a:xfrm>
          <a:prstGeom prst="ellipse">
            <a:avLst/>
          </a:prstGeom>
          <a:solidFill>
            <a:srgbClr val="F5A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9" y="5897880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92747"/>
                </a:solidFill>
              </a:rPr>
              <a:t>CUSTOMER-READY 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59" y="6163056"/>
            <a:ext cx="2697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>
                <a:solidFill>
                  <a:srgbClr val="54607A"/>
                </a:solidFill>
              </a:rPr>
              <a:t>Executive-ready slide narrative and editable pilot-customer section included.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510528"/>
            <a:ext cx="11640312" cy="274320"/>
          </a:xfrm>
          <a:prstGeom prst="roundRect">
            <a:avLst/>
          </a:prstGeom>
          <a:solidFill>
            <a:srgbClr val="19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6565392"/>
            <a:ext cx="1417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1">
                <a:solidFill>
                  <a:srgbClr val="FFFFFF"/>
                </a:solidFill>
              </a:rPr>
              <a:t>PILOT CUSTOMERS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75520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铁威马 (TerraMaster)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5005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海高特 (AWOL)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4490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联想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3975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畅网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3460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威联通 (QNAP)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72945" y="6556248"/>
            <a:ext cx="1130125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nimo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2430" y="6556248"/>
            <a:ext cx="113949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</a:rPr>
              <a:t>geakos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