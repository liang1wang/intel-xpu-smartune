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06BBF"/>
                </a:solidFill>
              </a:rPr>
              <a:t>INTEL® EES PLATFORM / SMARTUNE 1.5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966960" y="118872"/>
            <a:ext cx="1828800" cy="347472"/>
          </a:xfrm>
          <a:prstGeom prst="roundRect">
            <a:avLst/>
          </a:prstGeom>
          <a:solidFill>
            <a:srgbClr val="1A2A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</a:rPr>
              <a:t>Q3'26  •  PILOT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66928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A2A4C"/>
                </a:solidFill>
              </a:rPr>
              <a:t>SmarTune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105156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06BBF"/>
                </a:solidFill>
              </a:rPr>
              <a:t>SMART PERFORMANCE OPTIMIZATION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1481328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106BBF"/>
                </a:solidFill>
              </a:rPr>
              <a:t>FOR INTEL® XPU PLATFORMS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92024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5B6982"/>
                </a:solidFill>
              </a:rPr>
              <a:t>READY FOR PILOT DEPLOYMENT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331720"/>
            <a:ext cx="73152" cy="1353312"/>
          </a:xfrm>
          <a:prstGeom prst="rect">
            <a:avLst/>
          </a:prstGeom>
          <a:solidFill>
            <a:srgbClr val="F7A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331720"/>
            <a:ext cx="6949440" cy="1353312"/>
          </a:xfrm>
          <a:prstGeom prst="roundRect">
            <a:avLst/>
          </a:prstGeom>
          <a:solidFill>
            <a:srgbClr val="141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505456"/>
            <a:ext cx="2926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26B370"/>
                </a:solidFill>
              </a:rPr>
              <a:t>CORE OPTIMIZATION LAYER  /  WHAT IT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61488"/>
            <a:ext cx="6355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FFFFFF"/>
                </a:solidFill>
              </a:rPr>
              <a:t>SmartTune is the control center for Intel® XPU workload optimization — </a:t>
            </a:r>
            <a:r>
              <a:rPr sz="1800">
                <a:solidFill>
                  <a:srgbClr val="FFFFFF"/>
                </a:solidFill>
              </a:rPr>
              <a:t>monitoring system pressure, balancing resources, and applying policy-based tuning to keep AI and graphics workloads responsive.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319272"/>
            <a:ext cx="6355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50">
                <a:solidFill>
                  <a:srgbClr val="D0D8E7"/>
                </a:solidFill>
              </a:rPr>
              <a:t>It reduces manual tuning effort, protects critical applications, and speeds platform bring-up for production deployments.</a:t>
            </a:r>
          </a:p>
        </p:txBody>
      </p:sp>
      <p:sp>
        <p:nvSpPr>
          <p:cNvPr id="14" name="Oval 13"/>
          <p:cNvSpPr/>
          <p:nvPr/>
        </p:nvSpPr>
        <p:spPr>
          <a:xfrm>
            <a:off x="7635240" y="566928"/>
            <a:ext cx="3886200" cy="3063240"/>
          </a:xfrm>
          <a:prstGeom prst="ellipse">
            <a:avLst/>
          </a:prstGeom>
          <a:solidFill>
            <a:srgbClr val="E6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chitectur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0" y="932688"/>
            <a:ext cx="3108960" cy="129435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732520" y="3419856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1A2A4C"/>
                </a:solidFill>
              </a:rPr>
              <a:t>SMARTUNE ARCHITECTURE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657600"/>
            <a:ext cx="2926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5B6982"/>
                </a:solidFill>
              </a:rPr>
              <a:t>Telemetry, policy control, and workload governance in one platform.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3803904"/>
            <a:ext cx="36576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B6982"/>
                </a:solidFill>
              </a:rPr>
              <a:t>SMARTUNE VALUE HIGHLIGHTS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0040" y="4005072"/>
            <a:ext cx="30175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4005072"/>
            <a:ext cx="73152" cy="1234440"/>
          </a:xfrm>
          <a:prstGeom prst="rect">
            <a:avLst/>
          </a:prstGeom>
          <a:solidFill>
            <a:srgbClr val="10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4169663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06BBF"/>
                </a:solidFill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7" y="411480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2A4C"/>
                </a:solidFill>
              </a:rPr>
              <a:t>REAL-TIME PRESSURE INSIGHT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7" y="4462272"/>
            <a:ext cx="2057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B6982"/>
                </a:solidFill>
              </a:rPr>
              <a:t>Tracks CPU, memory, disk, GPU, and NPU pressure to expose bottlenecks early.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4005072"/>
            <a:ext cx="30175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0" y="4005072"/>
            <a:ext cx="73152" cy="1234440"/>
          </a:xfrm>
          <a:prstGeom prst="rect">
            <a:avLst/>
          </a:prstGeom>
          <a:solidFill>
            <a:srgbClr val="26B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4169663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26B370"/>
                </a:solidFill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33087" y="411480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2A4C"/>
                </a:solidFill>
              </a:rPr>
              <a:t>AUTOMATED RESOURCE BALANCING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33087" y="4462272"/>
            <a:ext cx="2057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B6982"/>
                </a:solidFill>
              </a:rPr>
              <a:t>Applies cgroup-based controls, launch queuing, and keep-alive policies for critical apps.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29400" y="4005072"/>
            <a:ext cx="301752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0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29400" y="4005072"/>
            <a:ext cx="73152" cy="1234440"/>
          </a:xfrm>
          <a:prstGeom prst="rect">
            <a:avLst/>
          </a:prstGeom>
          <a:solidFill>
            <a:srgbClr val="F7A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93992" y="4169663"/>
            <a:ext cx="411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F7AA2D"/>
                </a:solidFill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87768" y="4114800"/>
            <a:ext cx="2148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A2A4C"/>
                </a:solidFill>
              </a:rPr>
              <a:t>FASTER PLATFORM READINESS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87768" y="4462272"/>
            <a:ext cx="20574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B6982"/>
                </a:solidFill>
              </a:rPr>
              <a:t>Shortens tuning cycles with a repeatable optimization workflow for Intel® XPU systems.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5486400"/>
            <a:ext cx="11430000" cy="9144"/>
          </a:xfrm>
          <a:prstGeom prst="rect">
            <a:avLst/>
          </a:prstGeom>
          <a:solidFill>
            <a:srgbClr val="D7E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5559552"/>
            <a:ext cx="4206240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5B6982"/>
                </a:solidFill>
              </a:rPr>
              <a:t>CUSTOMERS IN PILOT / EARLY ADOPTION</a:t>
            </a:r>
          </a:p>
        </p:txBody>
      </p:sp>
      <p:sp>
        <p:nvSpPr>
          <p:cNvPr id="36" name="Oval 35"/>
          <p:cNvSpPr/>
          <p:nvPr/>
        </p:nvSpPr>
        <p:spPr>
          <a:xfrm>
            <a:off x="320040" y="5669280"/>
            <a:ext cx="292608" cy="292608"/>
          </a:xfrm>
          <a:prstGeom prst="ellipse">
            <a:avLst/>
          </a:prstGeom>
          <a:solidFill>
            <a:srgbClr val="10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632704"/>
            <a:ext cx="2103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A2A4C"/>
                </a:solidFill>
              </a:rPr>
              <a:t>AsterAI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" y="587044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B6982"/>
                </a:solidFill>
              </a:rPr>
              <a:t>Edge AI appliance provider</a:t>
            </a:r>
          </a:p>
        </p:txBody>
      </p:sp>
      <p:sp>
        <p:nvSpPr>
          <p:cNvPr id="39" name="Oval 38"/>
          <p:cNvSpPr/>
          <p:nvPr/>
        </p:nvSpPr>
        <p:spPr>
          <a:xfrm>
            <a:off x="3154680" y="5669280"/>
            <a:ext cx="292608" cy="292608"/>
          </a:xfrm>
          <a:prstGeom prst="ellipse">
            <a:avLst/>
          </a:prstGeom>
          <a:solidFill>
            <a:srgbClr val="26B3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38728" y="5632704"/>
            <a:ext cx="2103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A2A4C"/>
                </a:solidFill>
              </a:rPr>
              <a:t>NovaEdge Systems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8728" y="587044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B6982"/>
                </a:solidFill>
              </a:rPr>
              <a:t>Industrial compute platform team</a:t>
            </a:r>
          </a:p>
        </p:txBody>
      </p:sp>
      <p:sp>
        <p:nvSpPr>
          <p:cNvPr id="42" name="Oval 41"/>
          <p:cNvSpPr/>
          <p:nvPr/>
        </p:nvSpPr>
        <p:spPr>
          <a:xfrm>
            <a:off x="6080760" y="5669280"/>
            <a:ext cx="292608" cy="292608"/>
          </a:xfrm>
          <a:prstGeom prst="ellipse">
            <a:avLst/>
          </a:prstGeom>
          <a:solidFill>
            <a:srgbClr val="F7A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5632704"/>
            <a:ext cx="2103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A2A4C"/>
                </a:solidFill>
              </a:rPr>
              <a:t>BlueMesa Robotics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587044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B6982"/>
                </a:solidFill>
              </a:rPr>
              <a:t>Autonomous robotics workloads</a:t>
            </a:r>
          </a:p>
        </p:txBody>
      </p:sp>
      <p:sp>
        <p:nvSpPr>
          <p:cNvPr id="45" name="Oval 44"/>
          <p:cNvSpPr/>
          <p:nvPr/>
        </p:nvSpPr>
        <p:spPr>
          <a:xfrm>
            <a:off x="8915400" y="5669280"/>
            <a:ext cx="292608" cy="292608"/>
          </a:xfrm>
          <a:prstGeom prst="ellipse">
            <a:avLst/>
          </a:prstGeom>
          <a:solidFill>
            <a:srgbClr val="106B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99448" y="5632704"/>
            <a:ext cx="21031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50" b="1">
                <a:solidFill>
                  <a:srgbClr val="1A2A4C"/>
                </a:solidFill>
              </a:rPr>
              <a:t>VertexVision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299448" y="5870448"/>
            <a:ext cx="22402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80">
                <a:solidFill>
                  <a:srgbClr val="5B6982"/>
                </a:solidFill>
              </a:rPr>
              <a:t>Computer vision deployment partner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6400800"/>
            <a:ext cx="25603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50">
                <a:solidFill>
                  <a:srgbClr val="5B6982"/>
                </a:solidFill>
              </a:rPr>
              <a:t>Customer names are placeholders and can be edited.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